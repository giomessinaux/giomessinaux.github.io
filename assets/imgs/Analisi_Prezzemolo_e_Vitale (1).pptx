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52296" y="3943472"/>
            <a:ext cx="1783407" cy="251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6889"/>
              </a:lnSpc>
              <a:buNone/>
            </a:pPr>
            <a:r>
              <a:rPr lang="en-US" sz="1050" b="1" spc="75" kern="0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AUDIT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163274" y="4442519"/>
            <a:ext cx="5961385" cy="1013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800"/>
              </a:lnSpc>
              <a:buNone/>
            </a:pPr>
            <a:r>
              <a:rPr lang="en-US" sz="4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Prezzemolo &amp; Vitale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226278" y="5608317"/>
            <a:ext cx="3835375" cy="40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8492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 2.1 Compliance Assessment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11114" y="6069278"/>
            <a:ext cx="1065704" cy="312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800"/>
              </a:lnSpc>
              <a:buNone/>
            </a:pPr>
            <a:r>
              <a:rPr lang="en-US" sz="13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57650"/>
            <a:ext cx="18440399" cy="76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3870072"/>
            <a:ext cx="16763999" cy="1636230"/>
          </a:xfrm>
          <a:prstGeom prst="rect">
            <a:avLst/>
          </a:prstGeom>
          <a:solidFill>
            <a:srgbClr val="FAF7F3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3870072"/>
            <a:ext cx="47625" cy="163623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5" name="Text 3"/>
          <p:cNvSpPr/>
          <p:nvPr/>
        </p:nvSpPr>
        <p:spPr>
          <a:xfrm>
            <a:off x="1095375" y="4155822"/>
            <a:ext cx="17759363" cy="342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Valutazione Generale: </a:t>
            </a:r>
            <a:pPr algn="l" indent="0" marL="0">
              <a:lnSpc>
                <a:spcPct val="140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sito prezzemoloevitale.it presenta </a:t>
            </a:r>
            <a:pPr algn="l" indent="0" marL="0">
              <a:lnSpc>
                <a:spcPct val="1408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criticalità significative </a:t>
            </a:r>
            <a:pPr algn="l" indent="0" marL="0">
              <a:lnSpc>
                <a:spcPct val="140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quanto riguarda l'accessibilità WCAG 2.1 Level AA.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5375" y="4603457"/>
            <a:ext cx="16629221" cy="655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4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struttura e il design responsivo sono solidi, ma mancano implementazioni fondamentali per l'inclusione digitale: contrasti insufficienti, label mancanti, tasti non accessibili da tastiera, e assenza di attributi ARIA appropriati.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62000" y="5887302"/>
            <a:ext cx="8191499" cy="1641980"/>
          </a:xfrm>
          <a:prstGeom prst="rect">
            <a:avLst/>
          </a:prstGeom>
          <a:solidFill>
            <a:srgbClr val="F5F0ED"/>
          </a:solidFill>
          <a:ln/>
        </p:spPr>
      </p:sp>
      <p:sp>
        <p:nvSpPr>
          <p:cNvPr id="8" name="Text 6"/>
          <p:cNvSpPr/>
          <p:nvPr/>
        </p:nvSpPr>
        <p:spPr>
          <a:xfrm>
            <a:off x="666750" y="6173052"/>
            <a:ext cx="8382000" cy="76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9636"/>
              </a:lnSpc>
              <a:buNone/>
            </a:pPr>
            <a:r>
              <a:rPr lang="en-US" sz="3600" b="1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66750" y="6999724"/>
            <a:ext cx="8382000" cy="28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Problemi Identificati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34499" y="5887302"/>
            <a:ext cx="8191499" cy="1641980"/>
          </a:xfrm>
          <a:prstGeom prst="rect">
            <a:avLst/>
          </a:prstGeom>
          <a:solidFill>
            <a:srgbClr val="F5F0ED"/>
          </a:solidFill>
          <a:ln/>
        </p:spPr>
      </p:sp>
      <p:sp>
        <p:nvSpPr>
          <p:cNvPr id="11" name="Text 9"/>
          <p:cNvSpPr/>
          <p:nvPr/>
        </p:nvSpPr>
        <p:spPr>
          <a:xfrm>
            <a:off x="9239249" y="6173052"/>
            <a:ext cx="8382000" cy="76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9636"/>
              </a:lnSpc>
              <a:buNone/>
            </a:pPr>
            <a:r>
              <a:rPr lang="en-US" sz="3600" b="1" dirty="0">
                <a:solidFill>
                  <a:srgbClr val="C8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239249" y="6999724"/>
            <a:ext cx="8382000" cy="28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Critici (A/AA)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26087"/>
            <a:ext cx="18440399" cy="76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European Accessibility Act &amp; Benefici SEO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3733759"/>
            <a:ext cx="16763999" cy="1323961"/>
          </a:xfrm>
          <a:prstGeom prst="rect">
            <a:avLst/>
          </a:prstGeom>
          <a:solidFill>
            <a:srgbClr val="FAF7F3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3733759"/>
            <a:ext cx="47625" cy="1323961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5" name="Text 3"/>
          <p:cNvSpPr/>
          <p:nvPr/>
        </p:nvSpPr>
        <p:spPr>
          <a:xfrm>
            <a:off x="1095375" y="4019509"/>
            <a:ext cx="17759363" cy="373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286"/>
              </a:lnSpc>
              <a:buNone/>
            </a:pPr>
            <a:r>
              <a:rPr lang="en-US" sz="1650" b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Cos'è l'European Accessibility Act (EAA)?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95375" y="4497653"/>
            <a:ext cx="16629221" cy="312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4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normativa europea (in vigore dal 2025) richiede alle aziende di garantire l'accessibilità digitale secondo gli standard WCAG 2.1 Level AA. Mancanza di conformità comporta sanzioni significative e rischi legali.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2000" y="5438721"/>
            <a:ext cx="8239124" cy="2322125"/>
          </a:xfrm>
          <a:prstGeom prst="rect">
            <a:avLst/>
          </a:prstGeom>
          <a:solidFill>
            <a:srgbClr val="F0F5F9"/>
          </a:solidFill>
          <a:ln/>
        </p:spPr>
      </p:sp>
      <p:sp>
        <p:nvSpPr>
          <p:cNvPr id="8" name="Text 6"/>
          <p:cNvSpPr/>
          <p:nvPr/>
        </p:nvSpPr>
        <p:spPr>
          <a:xfrm>
            <a:off x="1000125" y="5676846"/>
            <a:ext cx="8539163" cy="312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350" b="1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Vantaggi Legali &amp; Brand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89025" y="6093970"/>
            <a:ext cx="775017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73684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Conformità legale EAA (evita sanzioni)</a:t>
            </a:r>
            <a:endParaRPr lang="en-US" sz="1125" dirty="0"/>
          </a:p>
          <a:p>
            <a:pPr algn="l" marL="101600" indent="-101600">
              <a:lnSpc>
                <a:spcPct val="173684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Responsabilità sociale aziendale</a:t>
            </a:r>
            <a:endParaRPr lang="en-US" sz="1125" dirty="0"/>
          </a:p>
          <a:p>
            <a:pPr algn="l" marL="101600" indent="-101600">
              <a:lnSpc>
                <a:spcPct val="173684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Inclusione di 1.3 miliardi di persone con disabilità</a:t>
            </a:r>
            <a:endParaRPr lang="en-US" sz="1125" dirty="0"/>
          </a:p>
          <a:p>
            <a:pPr algn="l" marL="101600" indent="-101600">
              <a:lnSpc>
                <a:spcPct val="173684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Protezione dalla responsabilità legale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9286874" y="5438721"/>
            <a:ext cx="8239124" cy="2322125"/>
          </a:xfrm>
          <a:prstGeom prst="rect">
            <a:avLst/>
          </a:prstGeom>
          <a:solidFill>
            <a:srgbClr val="F0F5F9"/>
          </a:solidFill>
          <a:ln/>
        </p:spPr>
      </p:sp>
      <p:sp>
        <p:nvSpPr>
          <p:cNvPr id="11" name="Text 9"/>
          <p:cNvSpPr/>
          <p:nvPr/>
        </p:nvSpPr>
        <p:spPr>
          <a:xfrm>
            <a:off x="9524999" y="5676846"/>
            <a:ext cx="8539163" cy="312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Vantaggi SEO Secondo Google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13899" y="6093970"/>
            <a:ext cx="79011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73684"/>
              </a:lnSpc>
              <a:buSzPct val="100000"/>
              <a:buChar char="•"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migliorato: </a:t>
            </a:r>
            <a:pPr algn="l" indent="0" marL="0">
              <a:lnSpc>
                <a:spcPct val="173684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premia i siti accessibili (Core Web Vitals)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613899" y="6379720"/>
            <a:ext cx="79011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73684"/>
              </a:lnSpc>
              <a:buSzPct val="100000"/>
              <a:buChar char="•"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Indicizzazione: </a:t>
            </a:r>
            <a:pPr algn="l" indent="0" marL="0">
              <a:lnSpc>
                <a:spcPct val="173684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reader-friendly = crawl più efficace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9613899" y="6665470"/>
            <a:ext cx="79011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73684"/>
              </a:lnSpc>
              <a:buSzPct val="100000"/>
              <a:buChar char="•"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Dwell time: </a:t>
            </a:r>
            <a:pPr algn="l" indent="0" marL="0">
              <a:lnSpc>
                <a:spcPct val="173684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migliore = tempo in pagina più lungo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9613899" y="6951220"/>
            <a:ext cx="79011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73684"/>
              </a:lnSpc>
              <a:buSzPct val="100000"/>
              <a:buChar char="•"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Mobile-first: </a:t>
            </a:r>
            <a:pPr algn="l" indent="0" marL="0">
              <a:lnSpc>
                <a:spcPct val="173684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Accessibilità = migliore esperienza mobile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9613899" y="7236970"/>
            <a:ext cx="79011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73684"/>
              </a:lnSpc>
              <a:buSzPct val="100000"/>
              <a:buChar char="•"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Autorità del dominio: </a:t>
            </a:r>
            <a:pPr algn="l" indent="0" marL="0">
              <a:lnSpc>
                <a:spcPct val="173684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 accessibili ricevono più backlink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82274"/>
            <a:ext cx="18440399" cy="76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Stato Attuale Accessibilità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3989947"/>
            <a:ext cx="5397455" cy="1520144"/>
          </a:xfrm>
          <a:prstGeom prst="rect">
            <a:avLst/>
          </a:prstGeom>
          <a:solidFill>
            <a:srgbClr val="F5F0ED"/>
          </a:solidFill>
          <a:ln/>
        </p:spPr>
      </p:sp>
      <p:sp>
        <p:nvSpPr>
          <p:cNvPr id="4" name="Text 2"/>
          <p:cNvSpPr/>
          <p:nvPr/>
        </p:nvSpPr>
        <p:spPr>
          <a:xfrm>
            <a:off x="806452" y="4275697"/>
            <a:ext cx="5308550" cy="647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8039"/>
              </a:lnSpc>
              <a:buNone/>
            </a:pPr>
            <a:r>
              <a:rPr lang="en-US" sz="3000" b="1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6452" y="4980533"/>
            <a:ext cx="5308550" cy="28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 AA Compliance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45205" y="3989947"/>
            <a:ext cx="5397522" cy="1520144"/>
          </a:xfrm>
          <a:prstGeom prst="rect">
            <a:avLst/>
          </a:prstGeom>
          <a:solidFill>
            <a:srgbClr val="F5F0ED"/>
          </a:solidFill>
          <a:ln/>
        </p:spPr>
      </p:sp>
      <p:sp>
        <p:nvSpPr>
          <p:cNvPr id="7" name="Text 5"/>
          <p:cNvSpPr/>
          <p:nvPr/>
        </p:nvSpPr>
        <p:spPr>
          <a:xfrm>
            <a:off x="6489654" y="4275697"/>
            <a:ext cx="5308625" cy="647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8039"/>
              </a:lnSpc>
              <a:buNone/>
            </a:pPr>
            <a:r>
              <a:rPr lang="en-US" sz="3000" b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18/50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89654" y="4980533"/>
            <a:ext cx="5308625" cy="28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Pagine Testate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128477" y="3989947"/>
            <a:ext cx="5397455" cy="1520144"/>
          </a:xfrm>
          <a:prstGeom prst="rect">
            <a:avLst/>
          </a:prstGeom>
          <a:solidFill>
            <a:srgbClr val="F5F0ED"/>
          </a:solidFill>
          <a:ln/>
        </p:spPr>
      </p:sp>
      <p:sp>
        <p:nvSpPr>
          <p:cNvPr id="10" name="Text 8"/>
          <p:cNvSpPr/>
          <p:nvPr/>
        </p:nvSpPr>
        <p:spPr>
          <a:xfrm>
            <a:off x="12172929" y="4275697"/>
            <a:ext cx="5308550" cy="647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8039"/>
              </a:lnSpc>
              <a:buNone/>
            </a:pPr>
            <a:r>
              <a:rPr lang="en-US" sz="3000" b="1" dirty="0">
                <a:solidFill>
                  <a:srgbClr val="C8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2172929" y="4980533"/>
            <a:ext cx="5308550" cy="28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 Problemi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000" y="5986340"/>
            <a:ext cx="18440399" cy="40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92"/>
              </a:lnSpc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Problemi Principali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6590177"/>
            <a:ext cx="17266919" cy="34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b="1" dirty="0">
                <a:solidFill>
                  <a:srgbClr val="C8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Contrasto Colori Insufficiente (WCAG 1.4.3) </a:t>
            </a:r>
            <a:pPr algn="l" indent="0" marL="0">
              <a:lnSpc>
                <a:spcPct val="176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Testi grigi su sfondi chiari sotto rapporto 4.5:1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2000" y="6895004"/>
            <a:ext cx="17266919" cy="34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b="1" dirty="0">
                <a:solidFill>
                  <a:srgbClr val="C8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Label e ARIA Mancanti (WCAG 1.3.1, 4.1.2) </a:t>
            </a:r>
            <a:pPr algn="l" indent="0" marL="0">
              <a:lnSpc>
                <a:spcPct val="176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Campi filtro e bottoni senza label semantiche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2000" y="7199831"/>
            <a:ext cx="17266919" cy="34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b="1" dirty="0">
                <a:solidFill>
                  <a:srgbClr val="C8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Navigazione Tastiera Limitata (WCAG 2.1.1) </a:t>
            </a:r>
            <a:pPr algn="l" indent="0" marL="0">
              <a:lnSpc>
                <a:spcPct val="176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Filtri e modali non accessibili via tastiera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112818"/>
            <a:ext cx="18440399" cy="76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Problemi Critici Identificati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3320491"/>
            <a:ext cx="16763999" cy="1459124"/>
          </a:xfrm>
          <a:prstGeom prst="rect">
            <a:avLst/>
          </a:prstGeom>
          <a:solidFill>
            <a:srgbClr val="FFF4F1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3320491"/>
            <a:ext cx="47625" cy="1459124"/>
          </a:xfrm>
          <a:prstGeom prst="rect">
            <a:avLst/>
          </a:prstGeom>
          <a:solidFill>
            <a:srgbClr val="C85A54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558616"/>
            <a:ext cx="17864138" cy="342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500" b="1" dirty="0">
                <a:solidFill>
                  <a:srgbClr val="C8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Priorità 1: Contrasto Colori (Impatto Alto)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7750" y="3958625"/>
            <a:ext cx="17864138" cy="28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Pagine: </a:t>
            </a:r>
            <a:pPr algn="l" indent="0" marL="0">
              <a:lnSpc>
                <a:spcPct val="140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Salumi &amp; Latticini, Panini Gourmet, Gastronomia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7750" y="4297682"/>
            <a:ext cx="17864138" cy="28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colore dei prezzi (#a0a0a0) su sfondo bianco ha rapporto 3.2:1. Necessario minimo 4.5:1 (WCAG AA).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2000" y="5017740"/>
            <a:ext cx="16763999" cy="1459124"/>
          </a:xfrm>
          <a:prstGeom prst="rect">
            <a:avLst/>
          </a:prstGeom>
          <a:solidFill>
            <a:srgbClr val="FFF4F1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5017740"/>
            <a:ext cx="47625" cy="1459124"/>
          </a:xfrm>
          <a:prstGeom prst="rect">
            <a:avLst/>
          </a:prstGeom>
          <a:solidFill>
            <a:srgbClr val="C85A54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" y="5255865"/>
            <a:ext cx="17864138" cy="342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500" b="1" dirty="0">
                <a:solidFill>
                  <a:srgbClr val="C8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Priorità 2: Label Mancanti su Form (Impatto Alto)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47750" y="5655875"/>
            <a:ext cx="17864138" cy="28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Elemento: </a:t>
            </a:r>
            <a:pPr algn="l" indent="0" marL="0">
              <a:lnSpc>
                <a:spcPct val="140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Filtri categoria e dropdown prezzi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47750" y="5994932"/>
            <a:ext cx="17864138" cy="28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Utenti screen reader non ricevono feedback semantico. Soluzione: aggiungere &lt;label&gt; e aria-labelledby.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2000" y="6714990"/>
            <a:ext cx="16763999" cy="1459124"/>
          </a:xfrm>
          <a:prstGeom prst="rect">
            <a:avLst/>
          </a:prstGeom>
          <a:solidFill>
            <a:srgbClr val="FFF4F1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6714990"/>
            <a:ext cx="47625" cy="1459124"/>
          </a:xfrm>
          <a:prstGeom prst="rect">
            <a:avLst/>
          </a:prstGeom>
          <a:solidFill>
            <a:srgbClr val="C85A54"/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6953115"/>
            <a:ext cx="17864138" cy="342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500" b="1" dirty="0">
                <a:solidFill>
                  <a:srgbClr val="C8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Priorità 3: ALT Text Immagini (Impatto Medio)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47750" y="7353124"/>
            <a:ext cx="17864138" cy="28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Elemento: </a:t>
            </a:r>
            <a:pPr algn="l" indent="0" marL="0">
              <a:lnSpc>
                <a:spcPct val="140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Tutte le card prodotto (100+ immagini)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47750" y="7692182"/>
            <a:ext cx="17864138" cy="28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Attualmente vuote o generiche. Necessario ALT descrittivo per ogni prodotto.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847972"/>
            <a:ext cx="18440399" cy="76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Soluzioni e Raccomandazioni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2960394"/>
            <a:ext cx="16763999" cy="1699211"/>
          </a:xfrm>
          <a:prstGeom prst="rect">
            <a:avLst/>
          </a:prstGeom>
          <a:solidFill>
            <a:srgbClr val="F0F5F9"/>
          </a:solidFill>
          <a:ln/>
        </p:spPr>
      </p:sp>
      <p:sp>
        <p:nvSpPr>
          <p:cNvPr id="4" name="Text 2"/>
          <p:cNvSpPr/>
          <p:nvPr/>
        </p:nvSpPr>
        <p:spPr>
          <a:xfrm>
            <a:off x="1000125" y="3198519"/>
            <a:ext cx="17916524" cy="342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 (1-2 settimane)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83945" y="3598529"/>
            <a:ext cx="16280130" cy="86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584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Aumentare contrasto dei prezzi a #666 (rapporto 5.8:1)</a:t>
            </a:r>
            <a:endParaRPr lang="en-US" sz="1200" dirty="0"/>
          </a:p>
          <a:p>
            <a:pPr algn="l" marL="106680" indent="-106680">
              <a:lnSpc>
                <a:spcPct val="1584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Aggiungere aria-label ai bottoni "Aggiungi al carrello"</a:t>
            </a:r>
            <a:endParaRPr lang="en-US" sz="1200" dirty="0"/>
          </a:p>
          <a:p>
            <a:pPr algn="l" marL="106680" indent="-106680">
              <a:lnSpc>
                <a:spcPct val="1584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Implementare focus outline visibile (outline: 3px solid #2c5aa0)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2000" y="4850105"/>
            <a:ext cx="16763999" cy="1699211"/>
          </a:xfrm>
          <a:prstGeom prst="rect">
            <a:avLst/>
          </a:prstGeom>
          <a:solidFill>
            <a:srgbClr val="F5F9F0"/>
          </a:solidFill>
          <a:ln/>
        </p:spPr>
      </p:sp>
      <p:sp>
        <p:nvSpPr>
          <p:cNvPr id="7" name="Text 5"/>
          <p:cNvSpPr/>
          <p:nvPr/>
        </p:nvSpPr>
        <p:spPr>
          <a:xfrm>
            <a:off x="1000125" y="5088231"/>
            <a:ext cx="17916524" cy="342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 Termine (3-4 settimane)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83945" y="5488240"/>
            <a:ext cx="16280130" cy="86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584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Aggiungere ALT text semantico a tutte le immagini prodotto</a:t>
            </a:r>
            <a:endParaRPr lang="en-US" sz="1200" dirty="0"/>
          </a:p>
          <a:p>
            <a:pPr algn="l" marL="106680" indent="-106680">
              <a:lnSpc>
                <a:spcPct val="1584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Implementare aria-live su carrello e notifiche</a:t>
            </a:r>
            <a:endParaRPr lang="en-US" sz="1200" dirty="0"/>
          </a:p>
          <a:p>
            <a:pPr algn="l" marL="106680" indent="-106680">
              <a:lnSpc>
                <a:spcPct val="1584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heading structure (h1-h6) per logica semantica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6739817"/>
            <a:ext cx="16763999" cy="1699211"/>
          </a:xfrm>
          <a:prstGeom prst="rect">
            <a:avLst/>
          </a:prstGeom>
          <a:solidFill>
            <a:srgbClr val="F9F0F5"/>
          </a:solidFill>
          <a:ln/>
        </p:spPr>
      </p:sp>
      <p:sp>
        <p:nvSpPr>
          <p:cNvPr id="10" name="Text 8"/>
          <p:cNvSpPr/>
          <p:nvPr/>
        </p:nvSpPr>
        <p:spPr>
          <a:xfrm>
            <a:off x="1000125" y="6977942"/>
            <a:ext cx="17916524" cy="342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Validazione e Testing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83945" y="7377951"/>
            <a:ext cx="16280130" cy="86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584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Validare con WAVE, axe DevTools e screen reader (NVDA/JAWS)</a:t>
            </a:r>
            <a:endParaRPr lang="en-US" sz="1200" dirty="0"/>
          </a:p>
          <a:p>
            <a:pPr algn="l" marL="106680" indent="-106680">
              <a:lnSpc>
                <a:spcPct val="1584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testing con persone con disabilità visive</a:t>
            </a:r>
            <a:endParaRPr lang="en-US" sz="1200" dirty="0"/>
          </a:p>
          <a:p>
            <a:pPr algn="l" marL="106680" indent="-106680">
              <a:lnSpc>
                <a:spcPct val="1584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Integrazione CI/CD: axe-core per ogni commit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643874"/>
            <a:ext cx="18440399" cy="76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Implementazione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04875" y="2851547"/>
            <a:ext cx="19009" cy="5791578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4" name="Shape 2"/>
          <p:cNvSpPr/>
          <p:nvPr/>
        </p:nvSpPr>
        <p:spPr>
          <a:xfrm>
            <a:off x="714375" y="2899172"/>
            <a:ext cx="381000" cy="381000"/>
          </a:xfrm>
          <a:prstGeom prst="ellipse">
            <a:avLst/>
          </a:prstGeom>
          <a:solidFill>
            <a:srgbClr val="2C5AA0"/>
          </a:solidFill>
          <a:ln w="25977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8B6F47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33500" y="2912160"/>
            <a:ext cx="1507480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1: Quick Wins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33500" y="3216987"/>
            <a:ext cx="2203177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Settimana 1-2 (Agosto 2026)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3500" y="3521814"/>
            <a:ext cx="3146301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Contrasto colori, focus visibile, ARIA label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4375" y="3661172"/>
            <a:ext cx="381000" cy="381000"/>
          </a:xfrm>
          <a:prstGeom prst="ellipse">
            <a:avLst/>
          </a:prstGeom>
          <a:solidFill>
            <a:srgbClr val="8B6F47"/>
          </a:solidFill>
          <a:ln w="25977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8B6F47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33500" y="4207641"/>
            <a:ext cx="2213893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2: Core Improvements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33500" y="4512468"/>
            <a:ext cx="2497410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Settimana 3-4 (Settembre 2026)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33500" y="4817295"/>
            <a:ext cx="4062263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 text prodotti, ARIA live regions, heading structure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4375" y="4470797"/>
            <a:ext cx="381000" cy="381000"/>
          </a:xfrm>
          <a:prstGeom prst="ellipse">
            <a:avLst/>
          </a:prstGeom>
          <a:solidFill>
            <a:srgbClr val="8B6F47"/>
          </a:solidFill>
          <a:ln w="25977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8B6F47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33500" y="5503123"/>
            <a:ext cx="1553468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3: Validazione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33500" y="5807950"/>
            <a:ext cx="2315542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Settimana 5 (Settembre 2026)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33500" y="6112777"/>
            <a:ext cx="4295626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testing, screen reader validation, user testing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4375" y="5280422"/>
            <a:ext cx="381000" cy="381000"/>
          </a:xfrm>
          <a:prstGeom prst="ellipse">
            <a:avLst/>
          </a:prstGeom>
          <a:solidFill>
            <a:srgbClr val="2D7A3E"/>
          </a:solidFill>
          <a:ln w="25977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8B6F47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33500" y="6798604"/>
            <a:ext cx="2313087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4: Ongoing Compliance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33500" y="7103431"/>
            <a:ext cx="1107105" cy="215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00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Ottobre 2026+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7423817"/>
            <a:ext cx="16184880" cy="1257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6680" indent="-106680">
              <a:lnSpc>
                <a:spcPct val="176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automation: axe-core in ogni build</a:t>
            </a:r>
            <a:endParaRPr lang="en-US" sz="1200" dirty="0"/>
          </a:p>
          <a:p>
            <a:pPr algn="l" marL="106680" indent="-106680">
              <a:lnSpc>
                <a:spcPct val="176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team su WCAG 2.1 e best practices</a:t>
            </a:r>
            <a:endParaRPr lang="en-US" sz="1200" dirty="0"/>
          </a:p>
          <a:p>
            <a:pPr algn="l" marL="106680" indent="-106680">
              <a:lnSpc>
                <a:spcPct val="176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audits e monitoring continuo</a:t>
            </a:r>
            <a:endParaRPr lang="en-US" sz="1200" dirty="0"/>
          </a:p>
          <a:p>
            <a:pPr algn="l" marL="106680" indent="-106680">
              <a:lnSpc>
                <a:spcPct val="176000"/>
              </a:lnSpc>
              <a:buSzPct val="100000"/>
              <a:buChar char="•"/>
              <a:tabLst>
                <a:tab pos="106680" algn="l"/>
              </a:tabLst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Nuovi contenuti conformi per default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2026-08-07T14:32:32Z</dcterms:created>
  <dcterms:modified xsi:type="dcterms:W3CDTF">2026-08-07T14:32:32Z</dcterms:modified>
</cp:coreProperties>
</file>