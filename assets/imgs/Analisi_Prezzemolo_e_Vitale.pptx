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52296" y="3943472"/>
            <a:ext cx="1783407" cy="2513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6889"/>
              </a:lnSpc>
              <a:buNone/>
            </a:pPr>
            <a:r>
              <a:rPr lang="en-US" sz="1050" b="1" spc="75" kern="0" dirty="0">
                <a:solidFill>
                  <a:srgbClr val="8B6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ACCESSIBILITY AUDIT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163274" y="4442519"/>
            <a:ext cx="5961385" cy="10133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800"/>
              </a:lnSpc>
              <a:buNone/>
            </a:pPr>
            <a:r>
              <a:rPr lang="en-US" sz="48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Prezzemolo &amp; Vitale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226278" y="5608317"/>
            <a:ext cx="3835375" cy="403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8492"/>
              </a:lnSpc>
              <a:buNone/>
            </a:pPr>
            <a:r>
              <a:rPr lang="en-US" sz="1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WCAG 2.1 Compliance Assessment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611114" y="6069278"/>
            <a:ext cx="1065704" cy="312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800"/>
              </a:lnSpc>
              <a:buNone/>
            </a:pPr>
            <a:r>
              <a:rPr lang="en-US" sz="13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Agosto 2026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757650"/>
            <a:ext cx="18440399" cy="7695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8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Summary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62000" y="3870072"/>
            <a:ext cx="16763999" cy="1636230"/>
          </a:xfrm>
          <a:prstGeom prst="rect">
            <a:avLst/>
          </a:prstGeom>
          <a:solidFill>
            <a:srgbClr val="FAF7F3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3870072"/>
            <a:ext cx="47625" cy="1636230"/>
          </a:xfrm>
          <a:prstGeom prst="rect">
            <a:avLst/>
          </a:prstGeom>
          <a:solidFill>
            <a:srgbClr val="8B6F47"/>
          </a:solidFill>
          <a:ln/>
        </p:spPr>
      </p:sp>
      <p:sp>
        <p:nvSpPr>
          <p:cNvPr id="5" name="Text 3"/>
          <p:cNvSpPr/>
          <p:nvPr/>
        </p:nvSpPr>
        <p:spPr>
          <a:xfrm>
            <a:off x="1095375" y="4155822"/>
            <a:ext cx="17759363" cy="3428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8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Valutazione Generale: </a:t>
            </a:r>
            <a:pPr algn="l" indent="0" marL="0">
              <a:lnSpc>
                <a:spcPct val="1408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sito prezzemoloevitale.it presenta </a:t>
            </a:r>
            <a:pPr algn="l" indent="0" marL="0">
              <a:lnSpc>
                <a:spcPct val="1408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criticalità significative </a:t>
            </a:r>
            <a:pPr algn="l" indent="0" marL="0">
              <a:lnSpc>
                <a:spcPct val="1408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quanto riguarda l'accessibilità WCAG 2.1 Level AA.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95375" y="4603457"/>
            <a:ext cx="16629221" cy="6551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84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struttura e il design responsivo sono solidi, ma mancano implementazioni fondamentali per l'inclusione digitale: contrasti insufficienti, label mancanti, tasti non accessibili da tastiera, e assenza di attributi ARIA appropriati.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62000" y="5887302"/>
            <a:ext cx="8191499" cy="1641980"/>
          </a:xfrm>
          <a:prstGeom prst="rect">
            <a:avLst/>
          </a:prstGeom>
          <a:solidFill>
            <a:srgbClr val="F5F0ED"/>
          </a:solidFill>
          <a:ln/>
        </p:spPr>
      </p:sp>
      <p:sp>
        <p:nvSpPr>
          <p:cNvPr id="8" name="Text 6"/>
          <p:cNvSpPr/>
          <p:nvPr/>
        </p:nvSpPr>
        <p:spPr>
          <a:xfrm>
            <a:off x="666750" y="6173052"/>
            <a:ext cx="8382000" cy="7695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9636"/>
              </a:lnSpc>
              <a:buNone/>
            </a:pPr>
            <a:r>
              <a:rPr lang="en-US" sz="3600" b="1" dirty="0">
                <a:solidFill>
                  <a:srgbClr val="2C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666750" y="6999724"/>
            <a:ext cx="8382000" cy="2819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8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Problemi Identificati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334499" y="5887302"/>
            <a:ext cx="8191499" cy="1641980"/>
          </a:xfrm>
          <a:prstGeom prst="rect">
            <a:avLst/>
          </a:prstGeom>
          <a:solidFill>
            <a:srgbClr val="F5F0ED"/>
          </a:solidFill>
          <a:ln/>
        </p:spPr>
      </p:sp>
      <p:sp>
        <p:nvSpPr>
          <p:cNvPr id="11" name="Text 9"/>
          <p:cNvSpPr/>
          <p:nvPr/>
        </p:nvSpPr>
        <p:spPr>
          <a:xfrm>
            <a:off x="9239249" y="6173052"/>
            <a:ext cx="8382000" cy="7695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9636"/>
              </a:lnSpc>
              <a:buNone/>
            </a:pPr>
            <a:r>
              <a:rPr lang="en-US" sz="3600" b="1" dirty="0">
                <a:solidFill>
                  <a:srgbClr val="C8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9239249" y="6999724"/>
            <a:ext cx="8382000" cy="2819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8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Critici (A/AA)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782274"/>
            <a:ext cx="18440399" cy="7695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8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Stato Attuale Accessibilità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62000" y="3989947"/>
            <a:ext cx="5397455" cy="1520144"/>
          </a:xfrm>
          <a:prstGeom prst="rect">
            <a:avLst/>
          </a:prstGeom>
          <a:solidFill>
            <a:srgbClr val="F5F0ED"/>
          </a:solidFill>
          <a:ln/>
        </p:spPr>
      </p:sp>
      <p:sp>
        <p:nvSpPr>
          <p:cNvPr id="4" name="Text 2"/>
          <p:cNvSpPr/>
          <p:nvPr/>
        </p:nvSpPr>
        <p:spPr>
          <a:xfrm>
            <a:off x="806452" y="4275697"/>
            <a:ext cx="5308550" cy="647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8039"/>
              </a:lnSpc>
              <a:buNone/>
            </a:pPr>
            <a:r>
              <a:rPr lang="en-US" sz="3000" b="1" dirty="0">
                <a:solidFill>
                  <a:srgbClr val="2C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06452" y="4980533"/>
            <a:ext cx="5308550" cy="2819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8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WCAG AA Compliance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45205" y="3989947"/>
            <a:ext cx="5397522" cy="1520144"/>
          </a:xfrm>
          <a:prstGeom prst="rect">
            <a:avLst/>
          </a:prstGeom>
          <a:solidFill>
            <a:srgbClr val="F5F0ED"/>
          </a:solidFill>
          <a:ln/>
        </p:spPr>
      </p:sp>
      <p:sp>
        <p:nvSpPr>
          <p:cNvPr id="7" name="Text 5"/>
          <p:cNvSpPr/>
          <p:nvPr/>
        </p:nvSpPr>
        <p:spPr>
          <a:xfrm>
            <a:off x="6489654" y="4275697"/>
            <a:ext cx="5308625" cy="647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8039"/>
              </a:lnSpc>
              <a:buNone/>
            </a:pPr>
            <a:r>
              <a:rPr lang="en-US" sz="3000" b="1" dirty="0">
                <a:solidFill>
                  <a:srgbClr val="8B6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18/50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89654" y="4980533"/>
            <a:ext cx="5308625" cy="2819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8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Pagine Testate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2128477" y="3989947"/>
            <a:ext cx="5397455" cy="1520144"/>
          </a:xfrm>
          <a:prstGeom prst="rect">
            <a:avLst/>
          </a:prstGeom>
          <a:solidFill>
            <a:srgbClr val="F5F0ED"/>
          </a:solidFill>
          <a:ln/>
        </p:spPr>
      </p:sp>
      <p:sp>
        <p:nvSpPr>
          <p:cNvPr id="10" name="Text 8"/>
          <p:cNvSpPr/>
          <p:nvPr/>
        </p:nvSpPr>
        <p:spPr>
          <a:xfrm>
            <a:off x="12172929" y="4275697"/>
            <a:ext cx="5308550" cy="647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8039"/>
              </a:lnSpc>
              <a:buNone/>
            </a:pPr>
            <a:r>
              <a:rPr lang="en-US" sz="3000" b="1" dirty="0">
                <a:solidFill>
                  <a:srgbClr val="C8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2172929" y="4980533"/>
            <a:ext cx="5308550" cy="2819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8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Categorie Problemi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62000" y="5986340"/>
            <a:ext cx="18440399" cy="403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492"/>
              </a:lnSpc>
              <a:buNone/>
            </a:pPr>
            <a:r>
              <a:rPr lang="en-US" sz="1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Problemi Principali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62000" y="6590177"/>
            <a:ext cx="17266919" cy="342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6000"/>
              </a:lnSpc>
              <a:buNone/>
            </a:pPr>
            <a:r>
              <a:rPr lang="en-US" sz="1200" b="1" dirty="0">
                <a:solidFill>
                  <a:srgbClr val="C8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Contrasto Colori Insufficiente (WCAG 1.4.3) </a:t>
            </a:r>
            <a:pPr algn="l" indent="0" marL="0">
              <a:lnSpc>
                <a:spcPct val="176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Testi grigi su sfondi chiari sotto rapporto 4.5:1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62000" y="6895004"/>
            <a:ext cx="17266919" cy="342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6000"/>
              </a:lnSpc>
              <a:buNone/>
            </a:pPr>
            <a:r>
              <a:rPr lang="en-US" sz="1200" b="1" dirty="0">
                <a:solidFill>
                  <a:srgbClr val="C8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Label e ARIA Mancanti (WCAG 1.3.1, 4.1.2) </a:t>
            </a:r>
            <a:pPr algn="l" indent="0" marL="0">
              <a:lnSpc>
                <a:spcPct val="176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Campi filtro e bottoni senza label semantiche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62000" y="7199831"/>
            <a:ext cx="17266919" cy="342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6000"/>
              </a:lnSpc>
              <a:buNone/>
            </a:pPr>
            <a:r>
              <a:rPr lang="en-US" sz="1200" b="1" dirty="0">
                <a:solidFill>
                  <a:srgbClr val="C8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Navigazione Tastiera Limitata (WCAG 2.1.1) </a:t>
            </a:r>
            <a:pPr algn="l" indent="0" marL="0">
              <a:lnSpc>
                <a:spcPct val="176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Filtri e modali non accessibili via tastiera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112818"/>
            <a:ext cx="18440399" cy="7695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8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Problemi Critici Identificati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62000" y="3320491"/>
            <a:ext cx="16763999" cy="1459124"/>
          </a:xfrm>
          <a:prstGeom prst="rect">
            <a:avLst/>
          </a:prstGeom>
          <a:solidFill>
            <a:srgbClr val="FFF4F1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3320491"/>
            <a:ext cx="47625" cy="1459124"/>
          </a:xfrm>
          <a:prstGeom prst="rect">
            <a:avLst/>
          </a:prstGeom>
          <a:solidFill>
            <a:srgbClr val="C85A54"/>
          </a:solidFill>
          <a:ln/>
        </p:spPr>
      </p:sp>
      <p:sp>
        <p:nvSpPr>
          <p:cNvPr id="5" name="Text 3"/>
          <p:cNvSpPr/>
          <p:nvPr/>
        </p:nvSpPr>
        <p:spPr>
          <a:xfrm>
            <a:off x="1047750" y="3558616"/>
            <a:ext cx="17864138" cy="3428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800"/>
              </a:lnSpc>
              <a:buNone/>
            </a:pPr>
            <a:r>
              <a:rPr lang="en-US" sz="1500" b="1" dirty="0">
                <a:solidFill>
                  <a:srgbClr val="C8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Priorità 1: Contrasto Colori (Impatto Alto)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47750" y="3958625"/>
            <a:ext cx="17864138" cy="2819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8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Pagine: </a:t>
            </a:r>
            <a:pPr algn="l" indent="0" marL="0">
              <a:lnSpc>
                <a:spcPct val="140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Salumi &amp; Latticini, Panini Gourmet, Gastronomia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47750" y="4297682"/>
            <a:ext cx="17864138" cy="2819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8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colore dei prezzi (#a0a0a0) su sfondo bianco ha rapporto 3.2:1. Necessario minimo 4.5:1 (WCAG AA).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62000" y="5017740"/>
            <a:ext cx="16763999" cy="1459124"/>
          </a:xfrm>
          <a:prstGeom prst="rect">
            <a:avLst/>
          </a:prstGeom>
          <a:solidFill>
            <a:srgbClr val="FFF4F1"/>
          </a:solidFill>
          <a:ln/>
        </p:spPr>
      </p:sp>
      <p:sp>
        <p:nvSpPr>
          <p:cNvPr id="9" name="Shape 7"/>
          <p:cNvSpPr/>
          <p:nvPr/>
        </p:nvSpPr>
        <p:spPr>
          <a:xfrm>
            <a:off x="762000" y="5017740"/>
            <a:ext cx="47625" cy="1459124"/>
          </a:xfrm>
          <a:prstGeom prst="rect">
            <a:avLst/>
          </a:prstGeom>
          <a:solidFill>
            <a:srgbClr val="C85A54"/>
          </a:solidFill>
          <a:ln/>
        </p:spPr>
      </p:sp>
      <p:sp>
        <p:nvSpPr>
          <p:cNvPr id="10" name="Text 8"/>
          <p:cNvSpPr/>
          <p:nvPr/>
        </p:nvSpPr>
        <p:spPr>
          <a:xfrm>
            <a:off x="1047750" y="5255865"/>
            <a:ext cx="17864138" cy="3428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800"/>
              </a:lnSpc>
              <a:buNone/>
            </a:pPr>
            <a:r>
              <a:rPr lang="en-US" sz="1500" b="1" dirty="0">
                <a:solidFill>
                  <a:srgbClr val="C8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Priorità 2: Label Mancanti su Form (Impatto Alto)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47750" y="5655875"/>
            <a:ext cx="17864138" cy="2819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8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Elemento: </a:t>
            </a:r>
            <a:pPr algn="l" indent="0" marL="0">
              <a:lnSpc>
                <a:spcPct val="140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Filtri categoria e dropdown prezzi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47750" y="5994932"/>
            <a:ext cx="17864138" cy="2819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8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Utenti screen reader non ricevono feedback semantico. Soluzione: aggiungere &lt;label&gt; e aria-labelledby.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62000" y="6714990"/>
            <a:ext cx="16763999" cy="1459124"/>
          </a:xfrm>
          <a:prstGeom prst="rect">
            <a:avLst/>
          </a:prstGeom>
          <a:solidFill>
            <a:srgbClr val="FFF4F1"/>
          </a:solidFill>
          <a:ln/>
        </p:spPr>
      </p:sp>
      <p:sp>
        <p:nvSpPr>
          <p:cNvPr id="14" name="Shape 12"/>
          <p:cNvSpPr/>
          <p:nvPr/>
        </p:nvSpPr>
        <p:spPr>
          <a:xfrm>
            <a:off x="762000" y="6714990"/>
            <a:ext cx="47625" cy="1459124"/>
          </a:xfrm>
          <a:prstGeom prst="rect">
            <a:avLst/>
          </a:prstGeom>
          <a:solidFill>
            <a:srgbClr val="C85A54"/>
          </a:solidFill>
          <a:ln/>
        </p:spPr>
      </p:sp>
      <p:sp>
        <p:nvSpPr>
          <p:cNvPr id="15" name="Text 13"/>
          <p:cNvSpPr/>
          <p:nvPr/>
        </p:nvSpPr>
        <p:spPr>
          <a:xfrm>
            <a:off x="1047750" y="6953115"/>
            <a:ext cx="17864138" cy="3428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800"/>
              </a:lnSpc>
              <a:buNone/>
            </a:pPr>
            <a:r>
              <a:rPr lang="en-US" sz="1500" b="1" dirty="0">
                <a:solidFill>
                  <a:srgbClr val="C8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Priorità 3: ALT Text Immagini (Impatto Medio)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47750" y="7353124"/>
            <a:ext cx="17864138" cy="2819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8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Elemento: </a:t>
            </a:r>
            <a:pPr algn="l" indent="0" marL="0">
              <a:lnSpc>
                <a:spcPct val="140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Tutte le card prodotto (100+ immagini)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47750" y="7692182"/>
            <a:ext cx="17864138" cy="2819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8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Attualmente vuote o generiche. Necessario ALT descrittivo per ogni prodotto.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1847972"/>
            <a:ext cx="18440399" cy="7695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8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Soluzioni e Raccomandazioni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62000" y="2960394"/>
            <a:ext cx="16763999" cy="1699211"/>
          </a:xfrm>
          <a:prstGeom prst="rect">
            <a:avLst/>
          </a:prstGeom>
          <a:solidFill>
            <a:srgbClr val="F0F5F9"/>
          </a:solidFill>
          <a:ln/>
        </p:spPr>
      </p:sp>
      <p:sp>
        <p:nvSpPr>
          <p:cNvPr id="4" name="Text 2"/>
          <p:cNvSpPr/>
          <p:nvPr/>
        </p:nvSpPr>
        <p:spPr>
          <a:xfrm>
            <a:off x="1000125" y="3198519"/>
            <a:ext cx="17916524" cy="3428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800"/>
              </a:lnSpc>
              <a:buNone/>
            </a:pPr>
            <a:r>
              <a:rPr lang="en-US" sz="1500" b="1" dirty="0">
                <a:solidFill>
                  <a:srgbClr val="2C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Wins (1-2 settimane)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83945" y="3598529"/>
            <a:ext cx="16280130" cy="861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06680" indent="-106680">
              <a:lnSpc>
                <a:spcPct val="158400"/>
              </a:lnSpc>
              <a:buSzPct val="100000"/>
              <a:buChar char="•"/>
              <a:tabLst>
                <a:tab pos="106680" algn="l"/>
              </a:tabLst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Aumentare contrasto dei prezzi a #666 (rapporto 5.8:1)</a:t>
            </a:r>
            <a:endParaRPr lang="en-US" sz="1200" dirty="0"/>
          </a:p>
          <a:p>
            <a:pPr algn="l" marL="106680" indent="-106680">
              <a:lnSpc>
                <a:spcPct val="158400"/>
              </a:lnSpc>
              <a:buSzPct val="100000"/>
              <a:buChar char="•"/>
              <a:tabLst>
                <a:tab pos="106680" algn="l"/>
              </a:tabLst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Aggiungere aria-label ai bottoni "Aggiungi al carrello"</a:t>
            </a:r>
            <a:endParaRPr lang="en-US" sz="1200" dirty="0"/>
          </a:p>
          <a:p>
            <a:pPr algn="l" marL="106680" indent="-106680">
              <a:lnSpc>
                <a:spcPct val="158400"/>
              </a:lnSpc>
              <a:buSzPct val="100000"/>
              <a:buChar char="•"/>
              <a:tabLst>
                <a:tab pos="106680" algn="l"/>
              </a:tabLst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Implementare focus outline visibile (outline: 3px solid #2c5aa0)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62000" y="4850105"/>
            <a:ext cx="16763999" cy="1699211"/>
          </a:xfrm>
          <a:prstGeom prst="rect">
            <a:avLst/>
          </a:prstGeom>
          <a:solidFill>
            <a:srgbClr val="F5F9F0"/>
          </a:solidFill>
          <a:ln/>
        </p:spPr>
      </p:sp>
      <p:sp>
        <p:nvSpPr>
          <p:cNvPr id="7" name="Text 5"/>
          <p:cNvSpPr/>
          <p:nvPr/>
        </p:nvSpPr>
        <p:spPr>
          <a:xfrm>
            <a:off x="1000125" y="5088231"/>
            <a:ext cx="17916524" cy="3428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800"/>
              </a:lnSpc>
              <a:buNone/>
            </a:pPr>
            <a:r>
              <a:rPr lang="en-US" sz="1500" b="1" dirty="0">
                <a:solidFill>
                  <a:srgbClr val="2D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Medio Termine (3-4 settimane)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83945" y="5488240"/>
            <a:ext cx="16280130" cy="861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06680" indent="-106680">
              <a:lnSpc>
                <a:spcPct val="158400"/>
              </a:lnSpc>
              <a:buSzPct val="100000"/>
              <a:buChar char="•"/>
              <a:tabLst>
                <a:tab pos="106680" algn="l"/>
              </a:tabLst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Aggiungere ALT text semantico a tutte le immagini prodotto</a:t>
            </a:r>
            <a:endParaRPr lang="en-US" sz="1200" dirty="0"/>
          </a:p>
          <a:p>
            <a:pPr algn="l" marL="106680" indent="-106680">
              <a:lnSpc>
                <a:spcPct val="158400"/>
              </a:lnSpc>
              <a:buSzPct val="100000"/>
              <a:buChar char="•"/>
              <a:tabLst>
                <a:tab pos="106680" algn="l"/>
              </a:tabLst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Implementare aria-live su carrello e notifiche</a:t>
            </a:r>
            <a:endParaRPr lang="en-US" sz="1200" dirty="0"/>
          </a:p>
          <a:p>
            <a:pPr algn="l" marL="106680" indent="-106680">
              <a:lnSpc>
                <a:spcPct val="158400"/>
              </a:lnSpc>
              <a:buSzPct val="100000"/>
              <a:buChar char="•"/>
              <a:tabLst>
                <a:tab pos="106680" algn="l"/>
              </a:tabLst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heading structure (h1-h6) per logica semantica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62000" y="6739817"/>
            <a:ext cx="16763999" cy="1699211"/>
          </a:xfrm>
          <a:prstGeom prst="rect">
            <a:avLst/>
          </a:prstGeom>
          <a:solidFill>
            <a:srgbClr val="F9F0F5"/>
          </a:solidFill>
          <a:ln/>
        </p:spPr>
      </p:sp>
      <p:sp>
        <p:nvSpPr>
          <p:cNvPr id="10" name="Text 8"/>
          <p:cNvSpPr/>
          <p:nvPr/>
        </p:nvSpPr>
        <p:spPr>
          <a:xfrm>
            <a:off x="1000125" y="6977942"/>
            <a:ext cx="17916524" cy="3428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800"/>
              </a:lnSpc>
              <a:buNone/>
            </a:pPr>
            <a:r>
              <a:rPr lang="en-US" sz="1500" b="1" dirty="0">
                <a:solidFill>
                  <a:srgbClr val="8B4A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Validazione e Testing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83945" y="7377951"/>
            <a:ext cx="16280130" cy="861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06680" indent="-106680">
              <a:lnSpc>
                <a:spcPct val="158400"/>
              </a:lnSpc>
              <a:buSzPct val="100000"/>
              <a:buChar char="•"/>
              <a:tabLst>
                <a:tab pos="106680" algn="l"/>
              </a:tabLst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Validare con WAVE, axe DevTools e screen reader (NVDA/JAWS)</a:t>
            </a:r>
            <a:endParaRPr lang="en-US" sz="1200" dirty="0"/>
          </a:p>
          <a:p>
            <a:pPr algn="l" marL="106680" indent="-106680">
              <a:lnSpc>
                <a:spcPct val="158400"/>
              </a:lnSpc>
              <a:buSzPct val="100000"/>
              <a:buChar char="•"/>
              <a:tabLst>
                <a:tab pos="106680" algn="l"/>
              </a:tabLst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testing con persone con disabilità visive</a:t>
            </a:r>
            <a:endParaRPr lang="en-US" sz="1200" dirty="0"/>
          </a:p>
          <a:p>
            <a:pPr algn="l" marL="106680" indent="-106680">
              <a:lnSpc>
                <a:spcPct val="158400"/>
              </a:lnSpc>
              <a:buSzPct val="100000"/>
              <a:buChar char="•"/>
              <a:tabLst>
                <a:tab pos="106680" algn="l"/>
              </a:tabLst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Integrazione CI/CD: axe-core per ogni commit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139201"/>
            <a:ext cx="18440399" cy="7695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8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Timeline Implementazione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04875" y="3346874"/>
            <a:ext cx="19009" cy="4800925"/>
          </a:xfrm>
          <a:prstGeom prst="rect">
            <a:avLst/>
          </a:prstGeom>
          <a:solidFill>
            <a:srgbClr val="8B6F47"/>
          </a:solidFill>
          <a:ln/>
        </p:spPr>
      </p:sp>
      <p:sp>
        <p:nvSpPr>
          <p:cNvPr id="4" name="Shape 2"/>
          <p:cNvSpPr/>
          <p:nvPr/>
        </p:nvSpPr>
        <p:spPr>
          <a:xfrm>
            <a:off x="714375" y="3394499"/>
            <a:ext cx="381000" cy="381000"/>
          </a:xfrm>
          <a:prstGeom prst="ellipse">
            <a:avLst/>
          </a:prstGeom>
          <a:solidFill>
            <a:srgbClr val="2C5AA0"/>
          </a:solidFill>
          <a:ln w="25977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8B6F47">
                <a:alpha val="10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333500" y="3407487"/>
            <a:ext cx="1507480" cy="2156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6000"/>
              </a:lnSpc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1: Quick Wins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33500" y="3712314"/>
            <a:ext cx="2203177" cy="2156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6000"/>
              </a:lnSpc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Settimana 1-2 (Agosto 2026)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33500" y="4017141"/>
            <a:ext cx="3146301" cy="2156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6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Contrasto colori, focus visibile, ARIA label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14375" y="4156499"/>
            <a:ext cx="381000" cy="381000"/>
          </a:xfrm>
          <a:prstGeom prst="ellipse">
            <a:avLst/>
          </a:prstGeom>
          <a:solidFill>
            <a:srgbClr val="8B6F47"/>
          </a:solidFill>
          <a:ln w="25977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8B6F47">
                <a:alpha val="10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333500" y="4702968"/>
            <a:ext cx="2213893" cy="2156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6000"/>
              </a:lnSpc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2: Core Improvements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33500" y="5007795"/>
            <a:ext cx="2497410" cy="2156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6000"/>
              </a:lnSpc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Settimana 3-4 (Settembre 2026)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33500" y="5312623"/>
            <a:ext cx="4062263" cy="2156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6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 text prodotti, ARIA live regions, heading structure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14375" y="4966124"/>
            <a:ext cx="381000" cy="381000"/>
          </a:xfrm>
          <a:prstGeom prst="ellipse">
            <a:avLst/>
          </a:prstGeom>
          <a:solidFill>
            <a:srgbClr val="8B6F47"/>
          </a:solidFill>
          <a:ln w="25977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8B6F47">
                <a:alpha val="10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333500" y="5998450"/>
            <a:ext cx="1553468" cy="2156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6000"/>
              </a:lnSpc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3: Validazione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33500" y="6303277"/>
            <a:ext cx="2315542" cy="2156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6000"/>
              </a:lnSpc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Settimana 5 (Settembre 2026)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33500" y="6608104"/>
            <a:ext cx="4295626" cy="2156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6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testing, screen reader validation, user testing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14375" y="5775749"/>
            <a:ext cx="381000" cy="381000"/>
          </a:xfrm>
          <a:prstGeom prst="ellipse">
            <a:avLst/>
          </a:prstGeom>
          <a:solidFill>
            <a:srgbClr val="2D7A3E"/>
          </a:solidFill>
          <a:ln w="25977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8B6F47">
                <a:alpha val="10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333500" y="7293931"/>
            <a:ext cx="2313087" cy="2156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6000"/>
              </a:lnSpc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4: Ongoing Compliance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333500" y="7598758"/>
            <a:ext cx="1107105" cy="2156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6000"/>
              </a:lnSpc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Ottobre 2026+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333500" y="7903585"/>
            <a:ext cx="3278683" cy="2156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6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automation, training, quarterly audits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2026-08-07T14:28:55Z</dcterms:created>
  <dcterms:modified xsi:type="dcterms:W3CDTF">2026-08-07T14:28:55Z</dcterms:modified>
</cp:coreProperties>
</file>